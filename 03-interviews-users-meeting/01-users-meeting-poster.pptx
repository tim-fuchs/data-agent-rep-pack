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21396325" cy="30267275"/>
  <p:notesSz cx="6858000" cy="9144000"/>
  <p:defaultTextStyle>
    <a:defPPr>
      <a:defRPr lang="en-US"/>
    </a:defPPr>
    <a:lvl1pPr marL="0" algn="l" defTabSz="1476043" rtl="0" eaLnBrk="1" latinLnBrk="0" hangingPunct="1">
      <a:defRPr sz="5811" kern="1200">
        <a:solidFill>
          <a:schemeClr val="tx1"/>
        </a:solidFill>
        <a:latin typeface="+mn-lt"/>
        <a:ea typeface="+mn-ea"/>
        <a:cs typeface="+mn-cs"/>
      </a:defRPr>
    </a:lvl1pPr>
    <a:lvl2pPr marL="1476043" algn="l" defTabSz="1476043" rtl="0" eaLnBrk="1" latinLnBrk="0" hangingPunct="1">
      <a:defRPr sz="5811" kern="1200">
        <a:solidFill>
          <a:schemeClr val="tx1"/>
        </a:solidFill>
        <a:latin typeface="+mn-lt"/>
        <a:ea typeface="+mn-ea"/>
        <a:cs typeface="+mn-cs"/>
      </a:defRPr>
    </a:lvl2pPr>
    <a:lvl3pPr marL="2952087" algn="l" defTabSz="1476043" rtl="0" eaLnBrk="1" latinLnBrk="0" hangingPunct="1">
      <a:defRPr sz="5811" kern="1200">
        <a:solidFill>
          <a:schemeClr val="tx1"/>
        </a:solidFill>
        <a:latin typeface="+mn-lt"/>
        <a:ea typeface="+mn-ea"/>
        <a:cs typeface="+mn-cs"/>
      </a:defRPr>
    </a:lvl3pPr>
    <a:lvl4pPr marL="4428130" algn="l" defTabSz="1476043" rtl="0" eaLnBrk="1" latinLnBrk="0" hangingPunct="1">
      <a:defRPr sz="5811" kern="1200">
        <a:solidFill>
          <a:schemeClr val="tx1"/>
        </a:solidFill>
        <a:latin typeface="+mn-lt"/>
        <a:ea typeface="+mn-ea"/>
        <a:cs typeface="+mn-cs"/>
      </a:defRPr>
    </a:lvl4pPr>
    <a:lvl5pPr marL="5904173" algn="l" defTabSz="1476043" rtl="0" eaLnBrk="1" latinLnBrk="0" hangingPunct="1">
      <a:defRPr sz="5811" kern="1200">
        <a:solidFill>
          <a:schemeClr val="tx1"/>
        </a:solidFill>
        <a:latin typeface="+mn-lt"/>
        <a:ea typeface="+mn-ea"/>
        <a:cs typeface="+mn-cs"/>
      </a:defRPr>
    </a:lvl5pPr>
    <a:lvl6pPr marL="7380216" algn="l" defTabSz="1476043" rtl="0" eaLnBrk="1" latinLnBrk="0" hangingPunct="1">
      <a:defRPr sz="5811" kern="1200">
        <a:solidFill>
          <a:schemeClr val="tx1"/>
        </a:solidFill>
        <a:latin typeface="+mn-lt"/>
        <a:ea typeface="+mn-ea"/>
        <a:cs typeface="+mn-cs"/>
      </a:defRPr>
    </a:lvl6pPr>
    <a:lvl7pPr marL="8856260" algn="l" defTabSz="1476043" rtl="0" eaLnBrk="1" latinLnBrk="0" hangingPunct="1">
      <a:defRPr sz="5811" kern="1200">
        <a:solidFill>
          <a:schemeClr val="tx1"/>
        </a:solidFill>
        <a:latin typeface="+mn-lt"/>
        <a:ea typeface="+mn-ea"/>
        <a:cs typeface="+mn-cs"/>
      </a:defRPr>
    </a:lvl7pPr>
    <a:lvl8pPr marL="10332301" algn="l" defTabSz="1476043" rtl="0" eaLnBrk="1" latinLnBrk="0" hangingPunct="1">
      <a:defRPr sz="5811" kern="1200">
        <a:solidFill>
          <a:schemeClr val="tx1"/>
        </a:solidFill>
        <a:latin typeface="+mn-lt"/>
        <a:ea typeface="+mn-ea"/>
        <a:cs typeface="+mn-cs"/>
      </a:defRPr>
    </a:lvl8pPr>
    <a:lvl9pPr marL="11808345" algn="l" defTabSz="1476043" rtl="0" eaLnBrk="1" latinLnBrk="0" hangingPunct="1">
      <a:defRPr sz="581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675" userDrawn="1">
          <p15:clr>
            <a:srgbClr val="A4A3A4"/>
          </p15:clr>
        </p15:guide>
        <p15:guide id="3" pos="6803" userDrawn="1">
          <p15:clr>
            <a:srgbClr val="A4A3A4"/>
          </p15:clr>
        </p15:guide>
        <p15:guide id="4" pos="12577" userDrawn="1">
          <p15:clr>
            <a:srgbClr val="A4A3A4"/>
          </p15:clr>
        </p15:guide>
        <p15:guide id="5" pos="901" userDrawn="1">
          <p15:clr>
            <a:srgbClr val="A4A3A4"/>
          </p15:clr>
        </p15:guide>
        <p15:guide id="6" orient="horz" pos="17301" userDrawn="1">
          <p15:clr>
            <a:srgbClr val="A4A3A4"/>
          </p15:clr>
        </p15:guide>
        <p15:guide id="7" orient="horz" pos="4396" userDrawn="1">
          <p15:clr>
            <a:srgbClr val="A4A3A4"/>
          </p15:clr>
        </p15:guide>
        <p15:guide id="8" orient="horz" pos="4204" userDrawn="1">
          <p15:clr>
            <a:srgbClr val="A4A3A4"/>
          </p15:clr>
        </p15:guide>
        <p15:guide id="9" pos="6995" userDrawn="1">
          <p15:clr>
            <a:srgbClr val="A4A3A4"/>
          </p15:clr>
        </p15:guide>
        <p15:guide id="10" pos="6483" userDrawn="1">
          <p15:clr>
            <a:srgbClr val="A4A3A4"/>
          </p15:clr>
        </p15:guide>
        <p15:guide id="11" orient="horz" pos="1743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25" autoAdjust="0"/>
    <p:restoredTop sz="94660"/>
  </p:normalViewPr>
  <p:slideViewPr>
    <p:cSldViewPr snapToGrid="0" showGuides="1">
      <p:cViewPr>
        <p:scale>
          <a:sx n="36" d="100"/>
          <a:sy n="36" d="100"/>
        </p:scale>
        <p:origin x="1848" y="-560"/>
      </p:cViewPr>
      <p:guideLst>
        <p:guide pos="6675"/>
        <p:guide pos="6803"/>
        <p:guide pos="12577"/>
        <p:guide pos="901"/>
        <p:guide orient="horz" pos="17301"/>
        <p:guide orient="horz" pos="4396"/>
        <p:guide orient="horz" pos="4204"/>
        <p:guide pos="6995"/>
        <p:guide pos="6483"/>
        <p:guide orient="horz" pos="1743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167" d="100"/>
          <a:sy n="167" d="100"/>
        </p:scale>
        <p:origin x="6640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50AC80-9589-41A1-8ED2-EC2076B0E8E8}" type="datetimeFigureOut">
              <a:rPr lang="de-DE" smtClean="0"/>
              <a:t>19.01.26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83A726-01A3-41A5-8C71-74C8A626EA48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61616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492030-5346-4222-B1C0-77ABA51E04BA}" type="datetimeFigureOut">
              <a:rPr lang="de-DE" smtClean="0"/>
              <a:t>19.01.26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1B39C8-6D5D-40E8-8D83-C1E41A39F5E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4387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553517" indent="-553517" algn="l" defTabSz="2952087" rtl="0" eaLnBrk="1" latinLnBrk="0" hangingPunct="1">
      <a:buFont typeface="Arial" panose="020B0604020202020204" pitchFamily="34" charset="0"/>
      <a:buChar char="•"/>
      <a:defRPr sz="3874" kern="1200">
        <a:solidFill>
          <a:schemeClr val="tx1"/>
        </a:solidFill>
        <a:latin typeface="+mn-lt"/>
        <a:ea typeface="+mn-ea"/>
        <a:cs typeface="+mn-cs"/>
      </a:defRPr>
    </a:lvl1pPr>
    <a:lvl2pPr marL="2029560" indent="-553517" algn="l" defTabSz="2952087" rtl="0" eaLnBrk="1" latinLnBrk="0" hangingPunct="1">
      <a:buFont typeface="Arial" panose="020B0604020202020204" pitchFamily="34" charset="0"/>
      <a:buChar char="•"/>
      <a:defRPr sz="3874" kern="1200">
        <a:solidFill>
          <a:schemeClr val="tx1"/>
        </a:solidFill>
        <a:latin typeface="+mn-lt"/>
        <a:ea typeface="+mn-ea"/>
        <a:cs typeface="+mn-cs"/>
      </a:defRPr>
    </a:lvl2pPr>
    <a:lvl3pPr marL="3505602" indent="-553517" algn="l" defTabSz="2952087" rtl="0" eaLnBrk="1" latinLnBrk="0" hangingPunct="1">
      <a:buFont typeface="Arial" panose="020B0604020202020204" pitchFamily="34" charset="0"/>
      <a:buChar char="•"/>
      <a:defRPr sz="3874" kern="1200">
        <a:solidFill>
          <a:schemeClr val="tx1"/>
        </a:solidFill>
        <a:latin typeface="+mn-lt"/>
        <a:ea typeface="+mn-ea"/>
        <a:cs typeface="+mn-cs"/>
      </a:defRPr>
    </a:lvl3pPr>
    <a:lvl4pPr marL="4981645" indent="-553517" algn="l" defTabSz="2952087" rtl="0" eaLnBrk="1" latinLnBrk="0" hangingPunct="1">
      <a:buFont typeface="Arial" panose="020B0604020202020204" pitchFamily="34" charset="0"/>
      <a:buChar char="•"/>
      <a:defRPr sz="3874" kern="1200">
        <a:solidFill>
          <a:schemeClr val="tx1"/>
        </a:solidFill>
        <a:latin typeface="+mn-lt"/>
        <a:ea typeface="+mn-ea"/>
        <a:cs typeface="+mn-cs"/>
      </a:defRPr>
    </a:lvl4pPr>
    <a:lvl5pPr marL="6457688" indent="-553517" algn="l" defTabSz="2952087" rtl="0" eaLnBrk="1" latinLnBrk="0" hangingPunct="1">
      <a:buFont typeface="Arial" panose="020B0604020202020204" pitchFamily="34" charset="0"/>
      <a:buChar char="•"/>
      <a:defRPr sz="3874" kern="1200">
        <a:solidFill>
          <a:schemeClr val="tx1"/>
        </a:solidFill>
        <a:latin typeface="+mn-lt"/>
        <a:ea typeface="+mn-ea"/>
        <a:cs typeface="+mn-cs"/>
      </a:defRPr>
    </a:lvl5pPr>
    <a:lvl6pPr marL="7380216" algn="l" defTabSz="2952087" rtl="0" eaLnBrk="1" latinLnBrk="0" hangingPunct="1">
      <a:defRPr sz="3874" kern="1200">
        <a:solidFill>
          <a:schemeClr val="tx1"/>
        </a:solidFill>
        <a:latin typeface="+mn-lt"/>
        <a:ea typeface="+mn-ea"/>
        <a:cs typeface="+mn-cs"/>
      </a:defRPr>
    </a:lvl6pPr>
    <a:lvl7pPr marL="8856260" algn="l" defTabSz="2952087" rtl="0" eaLnBrk="1" latinLnBrk="0" hangingPunct="1">
      <a:defRPr sz="3874" kern="1200">
        <a:solidFill>
          <a:schemeClr val="tx1"/>
        </a:solidFill>
        <a:latin typeface="+mn-lt"/>
        <a:ea typeface="+mn-ea"/>
        <a:cs typeface="+mn-cs"/>
      </a:defRPr>
    </a:lvl7pPr>
    <a:lvl8pPr marL="10332301" algn="l" defTabSz="2952087" rtl="0" eaLnBrk="1" latinLnBrk="0" hangingPunct="1">
      <a:defRPr sz="3874" kern="1200">
        <a:solidFill>
          <a:schemeClr val="tx1"/>
        </a:solidFill>
        <a:latin typeface="+mn-lt"/>
        <a:ea typeface="+mn-ea"/>
        <a:cs typeface="+mn-cs"/>
      </a:defRPr>
    </a:lvl8pPr>
    <a:lvl9pPr marL="11808345" algn="l" defTabSz="2952087" rtl="0" eaLnBrk="1" latinLnBrk="0" hangingPunct="1">
      <a:defRPr sz="387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1B39C8-6D5D-40E8-8D83-C1E41A39F5E0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6504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0141" y="2077319"/>
            <a:ext cx="15136061" cy="2521162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0" hasCustomPrompt="1"/>
          </p:nvPr>
        </p:nvSpPr>
        <p:spPr>
          <a:xfrm>
            <a:off x="1444547" y="1347251"/>
            <a:ext cx="15121655" cy="56046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547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 err="1"/>
              <a:t>Subject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23036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5" Type="http://schemas.openxmlformats.org/officeDocument/2006/relationships/image" Target="../media/image1.emf"/><Relationship Id="rId4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>
          <a:xfrm>
            <a:off x="0" y="6673631"/>
            <a:ext cx="10597068" cy="20791619"/>
          </a:xfrm>
          <a:prstGeom prst="rect">
            <a:avLst/>
          </a:prstGeom>
          <a:solidFill>
            <a:schemeClr val="accent6"/>
          </a:solidFill>
        </p:spPr>
        <p:txBody>
          <a:bodyPr lIns="0" tIns="0" rIns="0" bIns="0" rtlCol="0" anchor="t" anchorCtr="0">
            <a:noAutofit/>
          </a:bodyPr>
          <a:lstStyle/>
          <a:p>
            <a:pPr algn="ctr">
              <a:lnSpc>
                <a:spcPct val="110000"/>
              </a:lnSpc>
            </a:pPr>
            <a:endParaRPr lang="de-DE" sz="2547" dirty="0" err="1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30141" y="2077319"/>
            <a:ext cx="15136061" cy="252116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endParaRPr lang="en-US" noProof="0" dirty="0"/>
          </a:p>
        </p:txBody>
      </p:sp>
      <p:pic>
        <p:nvPicPr>
          <p:cNvPr id="12" name="Grafik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36887" y="1419921"/>
            <a:ext cx="3051769" cy="3048843"/>
          </a:xfrm>
          <a:prstGeom prst="rect">
            <a:avLst/>
          </a:prstGeom>
        </p:spPr>
      </p:pic>
      <p:pic>
        <p:nvPicPr>
          <p:cNvPr id="14" name="Grafik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137" y="29042652"/>
            <a:ext cx="6317282" cy="216938"/>
          </a:xfrm>
          <a:prstGeom prst="rect">
            <a:avLst/>
          </a:prstGeom>
        </p:spPr>
      </p:pic>
      <p:sp>
        <p:nvSpPr>
          <p:cNvPr id="7" name="Rechteck 6"/>
          <p:cNvSpPr/>
          <p:nvPr/>
        </p:nvSpPr>
        <p:spPr>
          <a:xfrm>
            <a:off x="10799259" y="6673631"/>
            <a:ext cx="10597068" cy="20791619"/>
          </a:xfrm>
          <a:prstGeom prst="rect">
            <a:avLst/>
          </a:prstGeom>
          <a:solidFill>
            <a:schemeClr val="accent6"/>
          </a:solidFill>
        </p:spPr>
        <p:txBody>
          <a:bodyPr lIns="0" tIns="0" rIns="0" bIns="0" rtlCol="0" anchor="t" anchorCtr="0">
            <a:noAutofit/>
          </a:bodyPr>
          <a:lstStyle/>
          <a:p>
            <a:pPr algn="ctr">
              <a:lnSpc>
                <a:spcPct val="110000"/>
              </a:lnSpc>
            </a:pPr>
            <a:endParaRPr lang="de-DE" sz="2547" dirty="0" err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30138" y="6979224"/>
            <a:ext cx="8861397" cy="2017476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noProof="0" dirty="0"/>
              <a:t>Level 1</a:t>
            </a:r>
          </a:p>
          <a:p>
            <a:pPr lvl="1"/>
            <a:r>
              <a:rPr lang="en-US" noProof="0" dirty="0"/>
              <a:t>Level 2</a:t>
            </a:r>
          </a:p>
          <a:p>
            <a:pPr lvl="2"/>
            <a:r>
              <a:rPr lang="en-US" noProof="0" dirty="0"/>
              <a:t>Level 3</a:t>
            </a:r>
          </a:p>
          <a:p>
            <a:pPr lvl="3"/>
            <a:r>
              <a:rPr lang="en-US" noProof="0" dirty="0"/>
              <a:t>Level 4</a:t>
            </a:r>
          </a:p>
          <a:p>
            <a:pPr lvl="4"/>
            <a:r>
              <a:rPr lang="en-US" noProof="0" dirty="0"/>
              <a:t>Level 5</a:t>
            </a:r>
          </a:p>
        </p:txBody>
      </p:sp>
    </p:spTree>
    <p:extLst>
      <p:ext uri="{BB962C8B-B14F-4D97-AF65-F5344CB8AC3E}">
        <p14:creationId xmlns:p14="http://schemas.microsoft.com/office/powerpoint/2010/main" val="926006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hf sldNum="0" hdr="0" ftr="0" dt="0"/>
  <p:txStyles>
    <p:titleStyle>
      <a:lvl1pPr algn="l" defTabSz="1604755" rtl="0" eaLnBrk="1" latinLnBrk="0" hangingPunct="1">
        <a:lnSpc>
          <a:spcPct val="100000"/>
        </a:lnSpc>
        <a:spcBef>
          <a:spcPct val="0"/>
        </a:spcBef>
        <a:buNone/>
        <a:defRPr sz="5378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514479" indent="-514479" algn="l" defTabSz="1604755" rtl="0" eaLnBrk="1" latinLnBrk="0" hangingPunct="1">
        <a:lnSpc>
          <a:spcPct val="110000"/>
        </a:lnSpc>
        <a:spcBef>
          <a:spcPts val="849"/>
        </a:spcBef>
        <a:buClr>
          <a:schemeClr val="bg2"/>
        </a:buClr>
        <a:buFontTx/>
        <a:buBlip>
          <a:blip r:embed="rId5"/>
        </a:buBlip>
        <a:defRPr sz="2264" kern="1200">
          <a:solidFill>
            <a:schemeClr val="tx1"/>
          </a:solidFill>
          <a:latin typeface="+mn-lt"/>
          <a:ea typeface="+mn-ea"/>
          <a:cs typeface="+mn-cs"/>
        </a:defRPr>
      </a:lvl1pPr>
      <a:lvl2pPr marL="1006490" indent="-492013" algn="l" defTabSz="1604755" rtl="0" eaLnBrk="1" latinLnBrk="0" hangingPunct="1">
        <a:lnSpc>
          <a:spcPct val="110000"/>
        </a:lnSpc>
        <a:spcBef>
          <a:spcPts val="849"/>
        </a:spcBef>
        <a:buClr>
          <a:schemeClr val="accent2"/>
        </a:buClr>
        <a:buFontTx/>
        <a:buBlip>
          <a:blip r:embed="rId6"/>
        </a:buBlip>
        <a:defRPr sz="2264" kern="1200">
          <a:solidFill>
            <a:schemeClr val="tx1"/>
          </a:solidFill>
          <a:latin typeface="+mn-lt"/>
          <a:ea typeface="+mn-ea"/>
          <a:cs typeface="+mn-cs"/>
        </a:defRPr>
      </a:lvl2pPr>
      <a:lvl3pPr marL="1397404" indent="-390914" algn="l" defTabSz="1604755" rtl="0" eaLnBrk="1" latinLnBrk="0" hangingPunct="1">
        <a:lnSpc>
          <a:spcPct val="110000"/>
        </a:lnSpc>
        <a:spcBef>
          <a:spcPts val="849"/>
        </a:spcBef>
        <a:buFont typeface="Arial" panose="020B0604020202020204" pitchFamily="34" charset="0"/>
        <a:buChar char="►"/>
        <a:defRPr sz="2264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55767" indent="-258363" algn="l" defTabSz="1604755" rtl="0" eaLnBrk="1" latinLnBrk="0" hangingPunct="1">
        <a:lnSpc>
          <a:spcPct val="110000"/>
        </a:lnSpc>
        <a:spcBef>
          <a:spcPts val="849"/>
        </a:spcBef>
        <a:buFont typeface="Arial" panose="020B0604020202020204" pitchFamily="34" charset="0"/>
        <a:buChar char="•"/>
        <a:defRPr sz="2264" kern="1200">
          <a:solidFill>
            <a:schemeClr val="tx1"/>
          </a:solidFill>
          <a:latin typeface="+mn-lt"/>
          <a:ea typeface="+mn-ea"/>
          <a:cs typeface="+mn-cs"/>
        </a:defRPr>
      </a:lvl4pPr>
      <a:lvl5pPr marL="1914129" indent="-258363" algn="l" defTabSz="1604755" rtl="0" eaLnBrk="1" latinLnBrk="0" hangingPunct="1">
        <a:lnSpc>
          <a:spcPct val="110000"/>
        </a:lnSpc>
        <a:spcBef>
          <a:spcPts val="849"/>
        </a:spcBef>
        <a:buFont typeface="Arial" panose="020B0604020202020204" pitchFamily="34" charset="0"/>
        <a:buChar char="•"/>
        <a:defRPr sz="2264" kern="1200">
          <a:solidFill>
            <a:schemeClr val="tx1"/>
          </a:solidFill>
          <a:latin typeface="+mn-lt"/>
          <a:ea typeface="+mn-ea"/>
          <a:cs typeface="+mn-cs"/>
        </a:defRPr>
      </a:lvl5pPr>
      <a:lvl6pPr marL="4413076" indent="-401189" algn="l" defTabSz="1604755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3159" kern="1200">
          <a:solidFill>
            <a:schemeClr val="tx1"/>
          </a:solidFill>
          <a:latin typeface="+mn-lt"/>
          <a:ea typeface="+mn-ea"/>
          <a:cs typeface="+mn-cs"/>
        </a:defRPr>
      </a:lvl6pPr>
      <a:lvl7pPr marL="5215455" indent="-401189" algn="l" defTabSz="1604755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3159" kern="1200">
          <a:solidFill>
            <a:schemeClr val="tx1"/>
          </a:solidFill>
          <a:latin typeface="+mn-lt"/>
          <a:ea typeface="+mn-ea"/>
          <a:cs typeface="+mn-cs"/>
        </a:defRPr>
      </a:lvl7pPr>
      <a:lvl8pPr marL="6017831" indent="-401189" algn="l" defTabSz="1604755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3159" kern="1200">
          <a:solidFill>
            <a:schemeClr val="tx1"/>
          </a:solidFill>
          <a:latin typeface="+mn-lt"/>
          <a:ea typeface="+mn-ea"/>
          <a:cs typeface="+mn-cs"/>
        </a:defRPr>
      </a:lvl8pPr>
      <a:lvl9pPr marL="6820207" indent="-401189" algn="l" defTabSz="1604755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31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604755" rtl="0" eaLnBrk="1" latinLnBrk="0" hangingPunct="1">
        <a:defRPr sz="3159" kern="1200">
          <a:solidFill>
            <a:schemeClr val="tx1"/>
          </a:solidFill>
          <a:latin typeface="+mn-lt"/>
          <a:ea typeface="+mn-ea"/>
          <a:cs typeface="+mn-cs"/>
        </a:defRPr>
      </a:lvl1pPr>
      <a:lvl2pPr marL="802379" algn="l" defTabSz="1604755" rtl="0" eaLnBrk="1" latinLnBrk="0" hangingPunct="1">
        <a:defRPr sz="3159" kern="1200">
          <a:solidFill>
            <a:schemeClr val="tx1"/>
          </a:solidFill>
          <a:latin typeface="+mn-lt"/>
          <a:ea typeface="+mn-ea"/>
          <a:cs typeface="+mn-cs"/>
        </a:defRPr>
      </a:lvl2pPr>
      <a:lvl3pPr marL="1604755" algn="l" defTabSz="1604755" rtl="0" eaLnBrk="1" latinLnBrk="0" hangingPunct="1">
        <a:defRPr sz="3159" kern="1200">
          <a:solidFill>
            <a:schemeClr val="tx1"/>
          </a:solidFill>
          <a:latin typeface="+mn-lt"/>
          <a:ea typeface="+mn-ea"/>
          <a:cs typeface="+mn-cs"/>
        </a:defRPr>
      </a:lvl3pPr>
      <a:lvl4pPr marL="2407133" algn="l" defTabSz="1604755" rtl="0" eaLnBrk="1" latinLnBrk="0" hangingPunct="1">
        <a:defRPr sz="3159" kern="1200">
          <a:solidFill>
            <a:schemeClr val="tx1"/>
          </a:solidFill>
          <a:latin typeface="+mn-lt"/>
          <a:ea typeface="+mn-ea"/>
          <a:cs typeface="+mn-cs"/>
        </a:defRPr>
      </a:lvl4pPr>
      <a:lvl5pPr marL="3209509" algn="l" defTabSz="1604755" rtl="0" eaLnBrk="1" latinLnBrk="0" hangingPunct="1">
        <a:defRPr sz="3159" kern="1200">
          <a:solidFill>
            <a:schemeClr val="tx1"/>
          </a:solidFill>
          <a:latin typeface="+mn-lt"/>
          <a:ea typeface="+mn-ea"/>
          <a:cs typeface="+mn-cs"/>
        </a:defRPr>
      </a:lvl5pPr>
      <a:lvl6pPr marL="4011887" algn="l" defTabSz="1604755" rtl="0" eaLnBrk="1" latinLnBrk="0" hangingPunct="1">
        <a:defRPr sz="3159" kern="1200">
          <a:solidFill>
            <a:schemeClr val="tx1"/>
          </a:solidFill>
          <a:latin typeface="+mn-lt"/>
          <a:ea typeface="+mn-ea"/>
          <a:cs typeface="+mn-cs"/>
        </a:defRPr>
      </a:lvl6pPr>
      <a:lvl7pPr marL="4814263" algn="l" defTabSz="1604755" rtl="0" eaLnBrk="1" latinLnBrk="0" hangingPunct="1">
        <a:defRPr sz="3159" kern="1200">
          <a:solidFill>
            <a:schemeClr val="tx1"/>
          </a:solidFill>
          <a:latin typeface="+mn-lt"/>
          <a:ea typeface="+mn-ea"/>
          <a:cs typeface="+mn-cs"/>
        </a:defRPr>
      </a:lvl7pPr>
      <a:lvl8pPr marL="5616642" algn="l" defTabSz="1604755" rtl="0" eaLnBrk="1" latinLnBrk="0" hangingPunct="1">
        <a:defRPr sz="3159" kern="1200">
          <a:solidFill>
            <a:schemeClr val="tx1"/>
          </a:solidFill>
          <a:latin typeface="+mn-lt"/>
          <a:ea typeface="+mn-ea"/>
          <a:cs typeface="+mn-cs"/>
        </a:defRPr>
      </a:lvl8pPr>
      <a:lvl9pPr marL="6419020" algn="l" defTabSz="1604755" rtl="0" eaLnBrk="1" latinLnBrk="0" hangingPunct="1">
        <a:defRPr sz="31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6675" userDrawn="1">
          <p15:clr>
            <a:srgbClr val="F26B43"/>
          </p15:clr>
        </p15:guide>
        <p15:guide id="3" pos="6803" userDrawn="1">
          <p15:clr>
            <a:srgbClr val="F26B43"/>
          </p15:clr>
        </p15:guide>
        <p15:guide id="4" pos="897" userDrawn="1">
          <p15:clr>
            <a:srgbClr val="F26B43"/>
          </p15:clr>
        </p15:guide>
        <p15:guide id="5" pos="12581" userDrawn="1">
          <p15:clr>
            <a:srgbClr val="F26B43"/>
          </p15:clr>
        </p15:guide>
        <p15:guide id="6" orient="horz" pos="17301" userDrawn="1">
          <p15:clr>
            <a:srgbClr val="F26B43"/>
          </p15:clr>
        </p15:guide>
        <p15:guide id="8" orient="horz" pos="4204" userDrawn="1">
          <p15:clr>
            <a:srgbClr val="F26B43"/>
          </p15:clr>
        </p15:guide>
        <p15:guide id="9" pos="6995" userDrawn="1">
          <p15:clr>
            <a:srgbClr val="F26B43"/>
          </p15:clr>
        </p15:guide>
        <p15:guide id="10" pos="6483" userDrawn="1">
          <p15:clr>
            <a:srgbClr val="F26B43"/>
          </p15:clr>
        </p15:guide>
        <p15:guide id="11" orient="horz" pos="17430" userDrawn="1">
          <p15:clr>
            <a:srgbClr val="F26B43"/>
          </p15:clr>
        </p15:guide>
        <p15:guide id="12" orient="horz" pos="439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1423427" y="2079903"/>
            <a:ext cx="15136061" cy="2520663"/>
          </a:xfrm>
        </p:spPr>
        <p:txBody>
          <a:bodyPr/>
          <a:lstStyle/>
          <a:p>
            <a:r>
              <a:rPr lang="en-US" noProof="0" dirty="0"/>
              <a:t>AI Agent Support for Data Analysis</a:t>
            </a:r>
          </a:p>
        </p:txBody>
      </p:sp>
      <p:cxnSp>
        <p:nvCxnSpPr>
          <p:cNvPr id="26" name="Gerader Verbinder 25"/>
          <p:cNvCxnSpPr/>
          <p:nvPr/>
        </p:nvCxnSpPr>
        <p:spPr>
          <a:xfrm>
            <a:off x="1423426" y="10124140"/>
            <a:ext cx="88604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hteck 21"/>
          <p:cNvSpPr/>
          <p:nvPr/>
        </p:nvSpPr>
        <p:spPr>
          <a:xfrm>
            <a:off x="1423427" y="5224025"/>
            <a:ext cx="8867206" cy="1127488"/>
          </a:xfrm>
          <a:prstGeom prst="rect">
            <a:avLst/>
          </a:prstGeom>
          <a:noFill/>
        </p:spPr>
        <p:txBody>
          <a:bodyPr lIns="0" tIns="0" rIns="0" bIns="0" rtlCol="0" anchor="b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698" dirty="0"/>
              <a:t>Tim Fuchs </a:t>
            </a:r>
            <a:r>
              <a:rPr lang="en-US" sz="1698" baseline="30000" dirty="0"/>
              <a:t>1,2</a:t>
            </a:r>
            <a:r>
              <a:rPr lang="en-US" sz="1698" dirty="0"/>
              <a:t>, Luca </a:t>
            </a:r>
            <a:r>
              <a:rPr lang="en-US" sz="1698" dirty="0" err="1"/>
              <a:t>Gelisio</a:t>
            </a:r>
            <a:r>
              <a:rPr lang="en-US" sz="1698" dirty="0"/>
              <a:t> </a:t>
            </a:r>
            <a:r>
              <a:rPr lang="en-US" sz="1698" baseline="30000" dirty="0"/>
              <a:t>2</a:t>
            </a:r>
            <a:r>
              <a:rPr lang="en-US" sz="1698" dirty="0"/>
              <a:t>, Steffen Hauf </a:t>
            </a:r>
            <a:r>
              <a:rPr lang="en-US" sz="1698" baseline="30000" dirty="0"/>
              <a:t>2</a:t>
            </a:r>
            <a:r>
              <a:rPr lang="en-US" sz="1698" dirty="0"/>
              <a:t>, Walid Maalej </a:t>
            </a:r>
            <a:r>
              <a:rPr lang="en-US" sz="1698" baseline="30000" dirty="0"/>
              <a:t>1</a:t>
            </a:r>
          </a:p>
          <a:p>
            <a:pPr>
              <a:lnSpc>
                <a:spcPct val="110000"/>
              </a:lnSpc>
            </a:pPr>
            <a:endParaRPr lang="en-US" sz="1698" dirty="0"/>
          </a:p>
          <a:p>
            <a:pPr>
              <a:lnSpc>
                <a:spcPct val="110000"/>
              </a:lnSpc>
            </a:pPr>
            <a:r>
              <a:rPr lang="en-US" sz="1698" baseline="30000" dirty="0"/>
              <a:t>1</a:t>
            </a:r>
            <a:r>
              <a:rPr lang="en-US" sz="1698" dirty="0"/>
              <a:t> University of Hamburg, Hamburg, Germany</a:t>
            </a:r>
          </a:p>
          <a:p>
            <a:pPr>
              <a:lnSpc>
                <a:spcPct val="110000"/>
              </a:lnSpc>
            </a:pPr>
            <a:r>
              <a:rPr lang="en-US" sz="1698" baseline="30000" dirty="0"/>
              <a:t>2</a:t>
            </a:r>
            <a:r>
              <a:rPr lang="en-US" sz="1698" dirty="0"/>
              <a:t> European XFEL, </a:t>
            </a:r>
            <a:r>
              <a:rPr lang="en-US" sz="1698" dirty="0" err="1"/>
              <a:t>Schenefeld</a:t>
            </a:r>
            <a:r>
              <a:rPr lang="en-US" sz="1698" dirty="0"/>
              <a:t>, Germany</a:t>
            </a:r>
          </a:p>
        </p:txBody>
      </p:sp>
      <p:sp>
        <p:nvSpPr>
          <p:cNvPr id="23" name="Rechteck 22"/>
          <p:cNvSpPr/>
          <p:nvPr/>
        </p:nvSpPr>
        <p:spPr>
          <a:xfrm>
            <a:off x="-1" y="27667248"/>
            <a:ext cx="21396325" cy="750354"/>
          </a:xfrm>
          <a:prstGeom prst="rect">
            <a:avLst/>
          </a:prstGeom>
          <a:solidFill>
            <a:schemeClr val="accent1"/>
          </a:solidFill>
        </p:spPr>
        <p:txBody>
          <a:bodyPr rot="0" spcFirstLastPara="0" vertOverflow="overflow" horzOverflow="overflow" vert="horz" wrap="square" lIns="1426483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698" dirty="0">
                <a:solidFill>
                  <a:schemeClr val="bg1"/>
                </a:solidFill>
              </a:rPr>
              <a:t>European XFEL GmbH, Tim Fuchs, </a:t>
            </a:r>
            <a:r>
              <a:rPr lang="en-US" sz="1698" dirty="0" err="1">
                <a:solidFill>
                  <a:schemeClr val="bg1"/>
                </a:solidFill>
              </a:rPr>
              <a:t>Holzkoppel</a:t>
            </a:r>
            <a:r>
              <a:rPr lang="en-US" sz="1698" dirty="0">
                <a:solidFill>
                  <a:schemeClr val="bg1"/>
                </a:solidFill>
              </a:rPr>
              <a:t> 4, 22869 </a:t>
            </a:r>
            <a:r>
              <a:rPr lang="en-US" sz="1698" dirty="0" err="1">
                <a:solidFill>
                  <a:schemeClr val="bg1"/>
                </a:solidFill>
              </a:rPr>
              <a:t>Schenefeld</a:t>
            </a:r>
            <a:r>
              <a:rPr lang="en-US" sz="1698" dirty="0">
                <a:solidFill>
                  <a:schemeClr val="bg1"/>
                </a:solidFill>
              </a:rPr>
              <a:t>, Germany, </a:t>
            </a:r>
            <a:r>
              <a:rPr lang="en-US" sz="1698" dirty="0" err="1">
                <a:solidFill>
                  <a:schemeClr val="bg1"/>
                </a:solidFill>
              </a:rPr>
              <a:t>tim.puhlfuerss@xfel.eu</a:t>
            </a:r>
            <a:endParaRPr lang="en-US" sz="1698" dirty="0">
              <a:solidFill>
                <a:schemeClr val="bg1"/>
              </a:solidFill>
            </a:endParaRPr>
          </a:p>
          <a:p>
            <a:r>
              <a:rPr lang="en-US" sz="1698" b="1" dirty="0" err="1">
                <a:solidFill>
                  <a:schemeClr val="bg1"/>
                </a:solidFill>
              </a:rPr>
              <a:t>www.xfel.eu</a:t>
            </a:r>
            <a:endParaRPr lang="en-US" sz="1698" b="1" dirty="0">
              <a:solidFill>
                <a:schemeClr val="bg1"/>
              </a:solidFill>
            </a:endParaRPr>
          </a:p>
        </p:txBody>
      </p:sp>
      <p:sp>
        <p:nvSpPr>
          <p:cNvPr id="24" name="Rechteck 23"/>
          <p:cNvSpPr/>
          <p:nvPr/>
        </p:nvSpPr>
        <p:spPr>
          <a:xfrm>
            <a:off x="1423427" y="7174942"/>
            <a:ext cx="8867206" cy="2468946"/>
          </a:xfrm>
          <a:prstGeom prst="rect">
            <a:avLst/>
          </a:prstGeom>
          <a:noFill/>
        </p:spPr>
        <p:txBody>
          <a:bodyPr lIns="0" tIns="0" rIns="0" bIns="0" rtlCol="0" anchor="t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800" b="1" dirty="0"/>
              <a:t>Motivation</a:t>
            </a:r>
          </a:p>
          <a:p>
            <a:pPr>
              <a:lnSpc>
                <a:spcPct val="110000"/>
              </a:lnSpc>
            </a:pPr>
            <a:endParaRPr lang="en-US" sz="1698" dirty="0"/>
          </a:p>
          <a:p>
            <a:pPr>
              <a:lnSpc>
                <a:spcPct val="110000"/>
              </a:lnSpc>
            </a:pPr>
            <a:r>
              <a:rPr lang="en-US" sz="1698" dirty="0"/>
              <a:t>European XFEL (</a:t>
            </a:r>
            <a:r>
              <a:rPr lang="en-US" sz="1698" dirty="0" err="1"/>
              <a:t>EuXFEL</a:t>
            </a:r>
            <a:r>
              <a:rPr lang="en-US" sz="1698" dirty="0"/>
              <a:t>) and the Informatics department at the University of Hamburg are developing an AI agent to support users during </a:t>
            </a:r>
            <a:r>
              <a:rPr lang="en-US" sz="1698" b="1" dirty="0"/>
              <a:t>offline data analysis</a:t>
            </a:r>
            <a:r>
              <a:rPr lang="en-US" sz="1698" dirty="0"/>
              <a:t>. This assistant will function like ChatGPT, Claude, or Gemini and will be directly integrated into the </a:t>
            </a:r>
            <a:r>
              <a:rPr lang="en-US" sz="1698" dirty="0" err="1"/>
              <a:t>EuXFEL</a:t>
            </a:r>
            <a:r>
              <a:rPr lang="en-US" sz="1698" dirty="0"/>
              <a:t> tool chain (</a:t>
            </a:r>
            <a:r>
              <a:rPr lang="en-US" sz="1698" dirty="0" err="1"/>
              <a:t>Jupyter</a:t>
            </a:r>
            <a:r>
              <a:rPr lang="en-US" sz="1698" dirty="0"/>
              <a:t> Notebook, </a:t>
            </a:r>
            <a:r>
              <a:rPr lang="en-US" sz="1698" dirty="0" err="1"/>
              <a:t>Zulip</a:t>
            </a:r>
            <a:r>
              <a:rPr lang="en-US" sz="1698" dirty="0"/>
              <a:t>, etc.). It will have access to </a:t>
            </a:r>
            <a:r>
              <a:rPr lang="en-US" sz="1698" dirty="0" err="1"/>
              <a:t>EuXFEL</a:t>
            </a:r>
            <a:r>
              <a:rPr lang="en-US" sz="1698" dirty="0"/>
              <a:t>-specific data analysis knowledge, can retrieve and contextualize documentation for your needs, and assist you in writing analysis code. </a:t>
            </a:r>
            <a:r>
              <a:rPr lang="en-US" sz="1698" b="1" dirty="0"/>
              <a:t>Help us shaping this AI agent by completing our survey.</a:t>
            </a:r>
          </a:p>
        </p:txBody>
      </p:sp>
      <p:cxnSp>
        <p:nvCxnSpPr>
          <p:cNvPr id="34" name="Gerader Verbinder 33"/>
          <p:cNvCxnSpPr/>
          <p:nvPr/>
        </p:nvCxnSpPr>
        <p:spPr>
          <a:xfrm>
            <a:off x="1423426" y="20833565"/>
            <a:ext cx="88604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feld 41"/>
          <p:cNvSpPr txBox="1"/>
          <p:nvPr/>
        </p:nvSpPr>
        <p:spPr>
          <a:xfrm>
            <a:off x="1423427" y="10676241"/>
            <a:ext cx="8860467" cy="48931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800" b="1" dirty="0"/>
              <a:t>We need your opinion!</a:t>
            </a:r>
          </a:p>
          <a:p>
            <a:pPr>
              <a:lnSpc>
                <a:spcPct val="110000"/>
              </a:lnSpc>
            </a:pPr>
            <a:endParaRPr lang="en-US" sz="2830" b="1" dirty="0"/>
          </a:p>
          <a:p>
            <a:pPr marL="377434" indent="-377434">
              <a:lnSpc>
                <a:spcPct val="110000"/>
              </a:lnSpc>
              <a:spcAft>
                <a:spcPts val="849"/>
              </a:spcAft>
              <a:buBlip>
                <a:blip r:embed="rId3"/>
              </a:buBlip>
            </a:pPr>
            <a:r>
              <a:rPr lang="en-US" sz="1698" dirty="0"/>
              <a:t>Have you </a:t>
            </a:r>
            <a:r>
              <a:rPr lang="en-US" sz="1698" b="1" dirty="0"/>
              <a:t>previously used </a:t>
            </a:r>
            <a:r>
              <a:rPr lang="en-US" sz="1698" b="1" dirty="0" err="1"/>
              <a:t>EuXFEL’s</a:t>
            </a:r>
            <a:r>
              <a:rPr lang="en-US" sz="1698" b="1" dirty="0"/>
              <a:t> data analysis tools</a:t>
            </a:r>
            <a:br>
              <a:rPr lang="en-US" sz="1698" dirty="0"/>
            </a:br>
            <a:r>
              <a:rPr lang="en-US" sz="1698" dirty="0"/>
              <a:t>(e.g., Python library </a:t>
            </a:r>
            <a:r>
              <a:rPr lang="en-US" sz="1698" dirty="0" err="1"/>
              <a:t>EXtra</a:t>
            </a:r>
            <a:r>
              <a:rPr lang="en-US" sz="1698" dirty="0"/>
              <a:t>, </a:t>
            </a:r>
            <a:r>
              <a:rPr lang="en-US" sz="1698" dirty="0" err="1"/>
              <a:t>myMDC</a:t>
            </a:r>
            <a:r>
              <a:rPr lang="en-US" sz="1698" dirty="0"/>
              <a:t>, DAMNIT)?</a:t>
            </a:r>
          </a:p>
          <a:p>
            <a:pPr marL="377434" indent="-377434">
              <a:lnSpc>
                <a:spcPct val="110000"/>
              </a:lnSpc>
              <a:spcAft>
                <a:spcPts val="849"/>
              </a:spcAft>
              <a:buBlip>
                <a:blip r:embed="rId3"/>
              </a:buBlip>
            </a:pPr>
            <a:r>
              <a:rPr lang="en-US" sz="1698" dirty="0"/>
              <a:t>What </a:t>
            </a:r>
            <a:r>
              <a:rPr lang="en-US" sz="1698" b="1" dirty="0"/>
              <a:t>positive aspects</a:t>
            </a:r>
            <a:r>
              <a:rPr lang="en-US" sz="1698" dirty="0"/>
              <a:t> of the </a:t>
            </a:r>
            <a:r>
              <a:rPr lang="en-US" sz="1698" b="1" dirty="0"/>
              <a:t>offline</a:t>
            </a:r>
            <a:r>
              <a:rPr lang="en-US" sz="1698" dirty="0"/>
              <a:t> data analysis process have you experienced? Please focus on aspects related to </a:t>
            </a:r>
            <a:r>
              <a:rPr lang="en-US" sz="1698" b="1" dirty="0"/>
              <a:t>the exchange of knowledge/information</a:t>
            </a:r>
            <a:br>
              <a:rPr lang="en-US" sz="1698" b="1" dirty="0"/>
            </a:br>
            <a:r>
              <a:rPr lang="en-US" sz="1698" dirty="0"/>
              <a:t>(e.g., support from </a:t>
            </a:r>
            <a:r>
              <a:rPr lang="en-US" sz="1698" dirty="0" err="1"/>
              <a:t>EuXFEL</a:t>
            </a:r>
            <a:r>
              <a:rPr lang="en-US" sz="1698" dirty="0"/>
              <a:t> members, the information provided by the tools,</a:t>
            </a:r>
            <a:br>
              <a:rPr lang="en-US" sz="1698" dirty="0"/>
            </a:br>
            <a:r>
              <a:rPr lang="en-US" sz="1698" dirty="0"/>
              <a:t>and the tool documentation).</a:t>
            </a:r>
          </a:p>
          <a:p>
            <a:pPr marL="377434" indent="-377434">
              <a:lnSpc>
                <a:spcPct val="110000"/>
              </a:lnSpc>
              <a:spcAft>
                <a:spcPts val="849"/>
              </a:spcAft>
              <a:buBlip>
                <a:blip r:embed="rId3"/>
              </a:buBlip>
            </a:pPr>
            <a:r>
              <a:rPr lang="en-US" sz="1698" dirty="0"/>
              <a:t>What </a:t>
            </a:r>
            <a:r>
              <a:rPr lang="en-US" sz="1698" b="1" dirty="0"/>
              <a:t>negative aspects</a:t>
            </a:r>
            <a:r>
              <a:rPr lang="en-US" sz="1698" dirty="0"/>
              <a:t> of the </a:t>
            </a:r>
            <a:r>
              <a:rPr lang="en-US" sz="1698" b="1" dirty="0"/>
              <a:t>offline</a:t>
            </a:r>
            <a:r>
              <a:rPr lang="en-US" sz="1698" dirty="0"/>
              <a:t> data analysis process have you experienced? Please focus on aspects related to </a:t>
            </a:r>
            <a:r>
              <a:rPr lang="en-US" sz="1698" b="1" dirty="0"/>
              <a:t>the exchange of knowledge/information</a:t>
            </a:r>
            <a:r>
              <a:rPr lang="en-US" sz="1698" dirty="0"/>
              <a:t>.</a:t>
            </a:r>
          </a:p>
          <a:p>
            <a:pPr marL="377434" indent="-377434">
              <a:lnSpc>
                <a:spcPct val="110000"/>
              </a:lnSpc>
              <a:spcAft>
                <a:spcPts val="849"/>
              </a:spcAft>
              <a:buBlip>
                <a:blip r:embed="rId3"/>
              </a:buBlip>
            </a:pPr>
            <a:r>
              <a:rPr lang="en-US" sz="1698" dirty="0"/>
              <a:t>Imagine you could use a specialized AI tool, which is similar to ChatGPT but provided</a:t>
            </a:r>
            <a:br>
              <a:rPr lang="en-US" sz="1698" dirty="0"/>
            </a:br>
            <a:r>
              <a:rPr lang="en-US" sz="1698" dirty="0"/>
              <a:t>by </a:t>
            </a:r>
            <a:r>
              <a:rPr lang="en-US" sz="1698" dirty="0" err="1"/>
              <a:t>EuXFEL</a:t>
            </a:r>
            <a:r>
              <a:rPr lang="en-US" sz="1698" dirty="0"/>
              <a:t>. What </a:t>
            </a:r>
            <a:r>
              <a:rPr lang="en-US" sz="1698" b="1" dirty="0"/>
              <a:t>tasks should the tool support you </a:t>
            </a:r>
            <a:r>
              <a:rPr lang="en-US" sz="1698" dirty="0"/>
              <a:t>with during offline data analysis?</a:t>
            </a:r>
          </a:p>
          <a:p>
            <a:pPr marL="377434" indent="-377434">
              <a:lnSpc>
                <a:spcPct val="110000"/>
              </a:lnSpc>
              <a:spcAft>
                <a:spcPts val="849"/>
              </a:spcAft>
              <a:buBlip>
                <a:blip r:embed="rId3"/>
              </a:buBlip>
            </a:pPr>
            <a:r>
              <a:rPr lang="en-US" sz="1698" dirty="0"/>
              <a:t>Are you a user or a member of </a:t>
            </a:r>
            <a:r>
              <a:rPr lang="en-US" sz="1698" dirty="0" err="1"/>
              <a:t>EuXFEL</a:t>
            </a:r>
            <a:r>
              <a:rPr lang="en-US" sz="1698" dirty="0"/>
              <a:t>?</a:t>
            </a:r>
          </a:p>
          <a:p>
            <a:pPr marL="377434" indent="-377434">
              <a:lnSpc>
                <a:spcPct val="110000"/>
              </a:lnSpc>
              <a:spcAft>
                <a:spcPts val="849"/>
              </a:spcAft>
              <a:buBlip>
                <a:blip r:embed="rId3"/>
              </a:buBlip>
            </a:pPr>
            <a:r>
              <a:rPr lang="en-US" sz="1698" dirty="0"/>
              <a:t>How many experiments have you participated in at </a:t>
            </a:r>
            <a:r>
              <a:rPr lang="en-US" sz="1698" dirty="0" err="1"/>
              <a:t>EuXFEL</a:t>
            </a:r>
            <a:r>
              <a:rPr lang="en-US" sz="1698" dirty="0"/>
              <a:t>?</a:t>
            </a:r>
          </a:p>
        </p:txBody>
      </p:sp>
      <p:cxnSp>
        <p:nvCxnSpPr>
          <p:cNvPr id="53" name="Gerader Verbinder 52"/>
          <p:cNvCxnSpPr/>
          <p:nvPr/>
        </p:nvCxnSpPr>
        <p:spPr>
          <a:xfrm>
            <a:off x="11102724" y="18383870"/>
            <a:ext cx="887395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feld 53"/>
          <p:cNvSpPr txBox="1"/>
          <p:nvPr/>
        </p:nvSpPr>
        <p:spPr>
          <a:xfrm>
            <a:off x="11102725" y="18862132"/>
            <a:ext cx="8867209" cy="13190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800" b="1" dirty="0"/>
              <a:t>Acknowledgements</a:t>
            </a:r>
          </a:p>
          <a:p>
            <a:pPr>
              <a:lnSpc>
                <a:spcPct val="110000"/>
              </a:lnSpc>
            </a:pPr>
            <a:endParaRPr lang="en-US" sz="1698" dirty="0"/>
          </a:p>
          <a:p>
            <a:pPr>
              <a:lnSpc>
                <a:spcPct val="110000"/>
              </a:lnSpc>
            </a:pPr>
            <a:r>
              <a:rPr lang="en-US" sz="1698" dirty="0"/>
              <a:t>We acknowledge DASHH, Data Science in Hamburg – Helmholtz Graduate School for the Structure of Matter, for financial support. </a:t>
            </a:r>
            <a:endParaRPr lang="en-US" sz="1698" dirty="0">
              <a:solidFill>
                <a:srgbClr val="0D1546"/>
              </a:solidFill>
            </a:endParaRP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0"/>
          </p:nvPr>
        </p:nvSpPr>
        <p:spPr>
          <a:xfrm>
            <a:off x="1423427" y="1349979"/>
            <a:ext cx="15121655" cy="560353"/>
          </a:xfrm>
        </p:spPr>
        <p:txBody>
          <a:bodyPr/>
          <a:lstStyle/>
          <a:p>
            <a:r>
              <a:rPr lang="en-US" noProof="0" dirty="0"/>
              <a:t>European XFEL Users’ Meeting, January 2026</a:t>
            </a:r>
          </a:p>
        </p:txBody>
      </p:sp>
      <p:sp>
        <p:nvSpPr>
          <p:cNvPr id="2" name="Rechteck 23">
            <a:extLst>
              <a:ext uri="{FF2B5EF4-FFF2-40B4-BE49-F238E27FC236}">
                <a16:creationId xmlns:a16="http://schemas.microsoft.com/office/drawing/2014/main" id="{9A3916D4-AE38-2785-F4AA-7518812B557C}"/>
              </a:ext>
            </a:extLst>
          </p:cNvPr>
          <p:cNvSpPr/>
          <p:nvPr/>
        </p:nvSpPr>
        <p:spPr>
          <a:xfrm>
            <a:off x="1416688" y="21414749"/>
            <a:ext cx="8867206" cy="4481099"/>
          </a:xfrm>
          <a:prstGeom prst="rect">
            <a:avLst/>
          </a:prstGeom>
          <a:noFill/>
        </p:spPr>
        <p:txBody>
          <a:bodyPr lIns="0" tIns="0" rIns="0" bIns="0" rtlCol="0" anchor="t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800" b="1" dirty="0"/>
              <a:t>Previous Studies</a:t>
            </a:r>
          </a:p>
          <a:p>
            <a:pPr>
              <a:lnSpc>
                <a:spcPct val="110000"/>
              </a:lnSpc>
            </a:pPr>
            <a:endParaRPr lang="en-US" sz="1698" dirty="0"/>
          </a:p>
          <a:p>
            <a:pPr>
              <a:lnSpc>
                <a:spcPct val="110000"/>
              </a:lnSpc>
            </a:pPr>
            <a:r>
              <a:rPr lang="en-US" sz="1698" dirty="0"/>
              <a:t>AI-powered Visual Studio Code extension to generate source code documentation:</a:t>
            </a:r>
          </a:p>
          <a:p>
            <a:pPr>
              <a:lnSpc>
                <a:spcPct val="110000"/>
              </a:lnSpc>
            </a:pPr>
            <a:r>
              <a:rPr lang="en-US" sz="1698" i="1" dirty="0"/>
              <a:t>H. A. Kruse, T. Puhlfürß and W. Maalej, "Can Developers Prompt? A Controlled Experiment for Code Documentation Generation," 2024 IEEE International Conference on Software Maintenance and Evolution (ICSME), Flagstaff, AZ, USA, 2024, pp. 574-586</a:t>
            </a:r>
          </a:p>
          <a:p>
            <a:pPr>
              <a:lnSpc>
                <a:spcPct val="110000"/>
              </a:lnSpc>
            </a:pPr>
            <a:endParaRPr lang="en-US" sz="1698" dirty="0"/>
          </a:p>
          <a:p>
            <a:pPr>
              <a:lnSpc>
                <a:spcPct val="110000"/>
              </a:lnSpc>
            </a:pPr>
            <a:r>
              <a:rPr lang="en-US" sz="1698" dirty="0"/>
              <a:t>AI-powered knowledge base for issue tracker systems and documents:</a:t>
            </a:r>
            <a:br>
              <a:rPr lang="en-US" sz="1698" dirty="0"/>
            </a:br>
            <a:r>
              <a:rPr lang="en-US" sz="1698" i="1" dirty="0"/>
              <a:t>L. </a:t>
            </a:r>
            <a:r>
              <a:rPr lang="en-US" sz="1698" i="1" dirty="0" err="1"/>
              <a:t>Ciepielowski</a:t>
            </a:r>
            <a:r>
              <a:rPr lang="en-US" sz="1698" i="1" dirty="0"/>
              <a:t>, T. Puhlfürß and W. Maalej, “An LLM-Based Tool for Knowledge Retrieval from (Heterogeneous) Issue Tracking Systems”, master thesis, 2024</a:t>
            </a:r>
          </a:p>
          <a:p>
            <a:pPr>
              <a:lnSpc>
                <a:spcPct val="110000"/>
              </a:lnSpc>
            </a:pPr>
            <a:endParaRPr lang="en-US" sz="1698" dirty="0"/>
          </a:p>
          <a:p>
            <a:pPr>
              <a:lnSpc>
                <a:spcPct val="110000"/>
              </a:lnSpc>
            </a:pPr>
            <a:r>
              <a:rPr lang="en-US" sz="1698" dirty="0"/>
              <a:t>Analysis of ethical AI requirements considered in theory and practice:</a:t>
            </a:r>
          </a:p>
          <a:p>
            <a:pPr>
              <a:lnSpc>
                <a:spcPct val="110000"/>
              </a:lnSpc>
            </a:pPr>
            <a:r>
              <a:rPr lang="en-US" sz="1698" i="1" dirty="0"/>
              <a:t>T. Puhlfürß, J. Butzke and W. Maalej, "Model Cards Revisited: Bridging the Gap Between Theory and Practice for Ethical AI Requirements," 2025 IEEE 33rd International Requirements Engineering Conference (RE), Valencia, Spain, 2025, pp. 280-291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C10D4B-F354-2F8B-9E03-A7FE219E5D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02724" y="7946212"/>
            <a:ext cx="8878824" cy="4734600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0D8642E0-CB1B-DBE6-2FBA-384C0935EC14}"/>
              </a:ext>
            </a:extLst>
          </p:cNvPr>
          <p:cNvGrpSpPr/>
          <p:nvPr/>
        </p:nvGrpSpPr>
        <p:grpSpPr>
          <a:xfrm>
            <a:off x="1419650" y="16018798"/>
            <a:ext cx="3882072" cy="4183265"/>
            <a:chOff x="1005840" y="8100713"/>
            <a:chExt cx="2743200" cy="2956033"/>
          </a:xfrm>
        </p:grpSpPr>
        <p:sp>
          <p:nvSpPr>
            <p:cNvPr id="44" name="Rechteck 43"/>
            <p:cNvSpPr/>
            <p:nvPr/>
          </p:nvSpPr>
          <p:spPr>
            <a:xfrm>
              <a:off x="1005840" y="10916196"/>
              <a:ext cx="2743200" cy="140550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1274" dirty="0"/>
                <a:t>(https://</a:t>
              </a:r>
              <a:r>
                <a:rPr lang="en-US" sz="1274" dirty="0" err="1"/>
                <a:t>umfragen.uni-hamburg.de</a:t>
              </a:r>
              <a:r>
                <a:rPr lang="en-US" sz="1274" dirty="0"/>
                <a:t>/</a:t>
              </a:r>
              <a:r>
                <a:rPr lang="en-US" sz="1274" dirty="0" err="1"/>
                <a:t>index.php</a:t>
              </a:r>
              <a:r>
                <a:rPr lang="en-US" sz="1274" dirty="0"/>
                <a:t>/459382)</a:t>
              </a: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35E33CE4-D932-A44C-2695-349CE56E6830}"/>
                </a:ext>
              </a:extLst>
            </p:cNvPr>
            <p:cNvGrpSpPr/>
            <p:nvPr/>
          </p:nvGrpSpPr>
          <p:grpSpPr>
            <a:xfrm>
              <a:off x="1005840" y="8100713"/>
              <a:ext cx="2743200" cy="2743200"/>
              <a:chOff x="1005840" y="8100713"/>
              <a:chExt cx="2743200" cy="2743200"/>
            </a:xfrm>
          </p:grpSpPr>
          <p:sp>
            <p:nvSpPr>
              <p:cNvPr id="45" name="Rechteck 44"/>
              <p:cNvSpPr/>
              <p:nvPr/>
            </p:nvSpPr>
            <p:spPr>
              <a:xfrm>
                <a:off x="1005840" y="8100713"/>
                <a:ext cx="2743200" cy="274320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lIns="0" tIns="0" rIns="0" bIns="0" rtlCol="0" anchor="ctr" anchorCtr="0">
                <a:noAutofit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en-US" sz="1698" dirty="0"/>
                  <a:t>Diagram</a:t>
                </a:r>
              </a:p>
            </p:txBody>
          </p:sp>
          <p:pic>
            <p:nvPicPr>
              <p:cNvPr id="11" name="Picture 10" descr="A qr code with black squares&#10;&#10;AI-generated content may be incorrect.">
                <a:extLst>
                  <a:ext uri="{FF2B5EF4-FFF2-40B4-BE49-F238E27FC236}">
                    <a16:creationId xmlns:a16="http://schemas.microsoft.com/office/drawing/2014/main" id="{D4EEE2E7-3ADE-CB5B-B65E-CC23AD6528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51560" y="8146433"/>
                <a:ext cx="2651760" cy="2651760"/>
              </a:xfrm>
              <a:prstGeom prst="rect">
                <a:avLst/>
              </a:prstGeom>
            </p:spPr>
          </p:pic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D1C2AA5-BF5C-EF3D-8425-0E2844F89FDD}"/>
              </a:ext>
            </a:extLst>
          </p:cNvPr>
          <p:cNvGrpSpPr>
            <a:grpSpLocks noChangeAspect="1"/>
          </p:cNvGrpSpPr>
          <p:nvPr/>
        </p:nvGrpSpPr>
        <p:grpSpPr>
          <a:xfrm>
            <a:off x="11112432" y="13168792"/>
            <a:ext cx="8878824" cy="4607284"/>
            <a:chOff x="-8928847" y="14325942"/>
            <a:chExt cx="7773010" cy="403346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2E359C5-3F16-8675-3C84-CE621D41AE30}"/>
                </a:ext>
              </a:extLst>
            </p:cNvPr>
            <p:cNvSpPr/>
            <p:nvPr/>
          </p:nvSpPr>
          <p:spPr>
            <a:xfrm>
              <a:off x="-8928847" y="14325942"/>
              <a:ext cx="7773010" cy="403346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txBody>
            <a:bodyPr lIns="0" tIns="0" rIns="0" bIns="0" rtlCol="0" anchor="t" anchorCtr="0">
              <a:noAutofit/>
            </a:bodyPr>
            <a:lstStyle/>
            <a:p>
              <a:pPr algn="ctr">
                <a:lnSpc>
                  <a:spcPct val="110000"/>
                </a:lnSpc>
              </a:pPr>
              <a:endParaRPr lang="en-US" sz="1800" dirty="0" err="1"/>
            </a:p>
          </p:txBody>
        </p:sp>
        <p:sp>
          <p:nvSpPr>
            <p:cNvPr id="3" name="Rechteck 23">
              <a:extLst>
                <a:ext uri="{FF2B5EF4-FFF2-40B4-BE49-F238E27FC236}">
                  <a16:creationId xmlns:a16="http://schemas.microsoft.com/office/drawing/2014/main" id="{BCAB6C44-BCDA-8B62-0ECB-708E0440A635}"/>
                </a:ext>
              </a:extLst>
            </p:cNvPr>
            <p:cNvSpPr/>
            <p:nvPr/>
          </p:nvSpPr>
          <p:spPr>
            <a:xfrm>
              <a:off x="-8796988" y="16163345"/>
              <a:ext cx="2209047" cy="437236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en-US" sz="2800" b="1" dirty="0"/>
                <a:t>Agentic AI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15C79B61-BA9F-01E9-555A-143ED0813F37}"/>
                </a:ext>
              </a:extLst>
            </p:cNvPr>
            <p:cNvGrpSpPr/>
            <p:nvPr/>
          </p:nvGrpSpPr>
          <p:grpSpPr>
            <a:xfrm>
              <a:off x="-5642947" y="14524283"/>
              <a:ext cx="4099034" cy="3626069"/>
              <a:chOff x="-7834134" y="8499028"/>
              <a:chExt cx="4099034" cy="3626069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64C3DEB9-5306-0535-0BD5-FD747299DA7C}"/>
                  </a:ext>
                </a:extLst>
              </p:cNvPr>
              <p:cNvSpPr/>
              <p:nvPr/>
            </p:nvSpPr>
            <p:spPr>
              <a:xfrm>
                <a:off x="-7834134" y="8499028"/>
                <a:ext cx="4099034" cy="3626069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txBody>
              <a:bodyPr lIns="0" tIns="0" rIns="0" bIns="0" rtlCol="0" anchor="t" anchorCtr="0">
                <a:noAutofit/>
              </a:bodyPr>
              <a:lstStyle/>
              <a:p>
                <a:pPr algn="ctr">
                  <a:lnSpc>
                    <a:spcPct val="110000"/>
                  </a:lnSpc>
                </a:pPr>
                <a:endParaRPr lang="en-US" sz="1800" dirty="0" err="1"/>
              </a:p>
            </p:txBody>
          </p:sp>
          <p:sp>
            <p:nvSpPr>
              <p:cNvPr id="4" name="Rechteck 23">
                <a:extLst>
                  <a:ext uri="{FF2B5EF4-FFF2-40B4-BE49-F238E27FC236}">
                    <a16:creationId xmlns:a16="http://schemas.microsoft.com/office/drawing/2014/main" id="{5C583A2D-BACA-1285-50DB-86254102B922}"/>
                  </a:ext>
                </a:extLst>
              </p:cNvPr>
              <p:cNvSpPr/>
              <p:nvPr/>
            </p:nvSpPr>
            <p:spPr>
              <a:xfrm>
                <a:off x="-5944147" y="10138092"/>
                <a:ext cx="2209047" cy="43723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en-US" sz="2800" b="1" dirty="0" err="1"/>
                  <a:t>myLog</a:t>
                </a:r>
                <a:endParaRPr lang="en-US" sz="2800" b="1" dirty="0"/>
              </a:p>
            </p:txBody>
          </p:sp>
          <p:sp>
            <p:nvSpPr>
              <p:cNvPr id="10" name="Rechteck 23">
                <a:extLst>
                  <a:ext uri="{FF2B5EF4-FFF2-40B4-BE49-F238E27FC236}">
                    <a16:creationId xmlns:a16="http://schemas.microsoft.com/office/drawing/2014/main" id="{8993501C-9AEC-3946-3260-BEF2A384512F}"/>
                  </a:ext>
                </a:extLst>
              </p:cNvPr>
              <p:cNvSpPr/>
              <p:nvPr/>
            </p:nvSpPr>
            <p:spPr>
              <a:xfrm>
                <a:off x="-7106227" y="10934461"/>
                <a:ext cx="2209047" cy="43723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en-US" sz="2800" b="1" dirty="0"/>
                  <a:t>DAMNIT</a:t>
                </a:r>
              </a:p>
            </p:txBody>
          </p:sp>
          <p:sp>
            <p:nvSpPr>
              <p:cNvPr id="14" name="Rechteck 23">
                <a:extLst>
                  <a:ext uri="{FF2B5EF4-FFF2-40B4-BE49-F238E27FC236}">
                    <a16:creationId xmlns:a16="http://schemas.microsoft.com/office/drawing/2014/main" id="{4DDA6981-B40D-B7CB-16FB-8E8D76B8B090}"/>
                  </a:ext>
                </a:extLst>
              </p:cNvPr>
              <p:cNvSpPr/>
              <p:nvPr/>
            </p:nvSpPr>
            <p:spPr>
              <a:xfrm>
                <a:off x="-7454007" y="9131860"/>
                <a:ext cx="2209047" cy="91121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spAutoFit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en-US" sz="2800" b="1" dirty="0" err="1"/>
                  <a:t>Jupyter</a:t>
                </a:r>
                <a:endParaRPr lang="en-US" sz="2800" b="1" dirty="0"/>
              </a:p>
              <a:p>
                <a:pPr algn="ctr">
                  <a:lnSpc>
                    <a:spcPct val="110000"/>
                  </a:lnSpc>
                </a:pPr>
                <a:r>
                  <a:rPr lang="en-US" sz="2800" b="1" dirty="0"/>
                  <a:t>Notebook</a:t>
                </a:r>
              </a:p>
            </p:txBody>
          </p:sp>
        </p:grpSp>
        <p:sp>
          <p:nvSpPr>
            <p:cNvPr id="20" name="Right Arrow 19">
              <a:extLst>
                <a:ext uri="{FF2B5EF4-FFF2-40B4-BE49-F238E27FC236}">
                  <a16:creationId xmlns:a16="http://schemas.microsoft.com/office/drawing/2014/main" id="{E03E4EA3-5977-CCB1-C389-94485AFD0BBD}"/>
                </a:ext>
              </a:extLst>
            </p:cNvPr>
            <p:cNvSpPr/>
            <p:nvPr/>
          </p:nvSpPr>
          <p:spPr>
            <a:xfrm>
              <a:off x="-6646786" y="16163345"/>
              <a:ext cx="756356" cy="437236"/>
            </a:xfrm>
            <a:prstGeom prst="rightArrow">
              <a:avLst/>
            </a:prstGeom>
            <a:solidFill>
              <a:schemeClr val="tx1"/>
            </a:solidFill>
          </p:spPr>
          <p:txBody>
            <a:bodyPr lIns="0" tIns="0" rIns="0" bIns="0" rtlCol="0" anchor="t" anchorCtr="0">
              <a:noAutofit/>
            </a:bodyPr>
            <a:lstStyle/>
            <a:p>
              <a:pPr algn="ctr">
                <a:lnSpc>
                  <a:spcPct val="110000"/>
                </a:lnSpc>
              </a:pPr>
              <a:endParaRPr lang="en-US" sz="1800" dirty="0" err="1"/>
            </a:p>
          </p:txBody>
        </p:sp>
      </p:grpSp>
      <p:sp>
        <p:nvSpPr>
          <p:cNvPr id="25" name="Rechteck 23">
            <a:extLst>
              <a:ext uri="{FF2B5EF4-FFF2-40B4-BE49-F238E27FC236}">
                <a16:creationId xmlns:a16="http://schemas.microsoft.com/office/drawing/2014/main" id="{38BB1129-98AA-3D8D-71A2-DB7952D10813}"/>
              </a:ext>
            </a:extLst>
          </p:cNvPr>
          <p:cNvSpPr/>
          <p:nvPr/>
        </p:nvSpPr>
        <p:spPr>
          <a:xfrm>
            <a:off x="11102724" y="7178040"/>
            <a:ext cx="8867206" cy="437236"/>
          </a:xfrm>
          <a:prstGeom prst="rect">
            <a:avLst/>
          </a:prstGeom>
          <a:noFill/>
        </p:spPr>
        <p:txBody>
          <a:bodyPr lIns="0" tIns="0" rIns="0" bIns="0" rtlCol="0" anchor="t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2800" b="1" dirty="0"/>
              <a:t>Potential Integration</a:t>
            </a:r>
          </a:p>
        </p:txBody>
      </p:sp>
    </p:spTree>
    <p:extLst>
      <p:ext uri="{BB962C8B-B14F-4D97-AF65-F5344CB8AC3E}">
        <p14:creationId xmlns:p14="http://schemas.microsoft.com/office/powerpoint/2010/main" val="35893017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theme/theme1.xml><?xml version="1.0" encoding="utf-8"?>
<a:theme xmlns:a="http://schemas.openxmlformats.org/drawingml/2006/main" name="XFEL_Poster_Science">
  <a:themeElements>
    <a:clrScheme name="Benutzerdefiniert 147">
      <a:dk1>
        <a:srgbClr val="0D1546"/>
      </a:dk1>
      <a:lt1>
        <a:sysClr val="window" lastClr="FFFFFF"/>
      </a:lt1>
      <a:dk2>
        <a:srgbClr val="B2B2B2"/>
      </a:dk2>
      <a:lt2>
        <a:srgbClr val="F39200"/>
      </a:lt2>
      <a:accent1>
        <a:srgbClr val="0D1546"/>
      </a:accent1>
      <a:accent2>
        <a:srgbClr val="559DBB"/>
      </a:accent2>
      <a:accent3>
        <a:srgbClr val="81B0C8"/>
      </a:accent3>
      <a:accent4>
        <a:srgbClr val="A4C3D6"/>
      </a:accent4>
      <a:accent5>
        <a:srgbClr val="C5D6E4"/>
      </a:accent5>
      <a:accent6>
        <a:srgbClr val="E3EBF2"/>
      </a:accent6>
      <a:hlink>
        <a:srgbClr val="000000"/>
      </a:hlink>
      <a:folHlink>
        <a:srgbClr val="000000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</a:spPr>
      <a:bodyPr lIns="0" tIns="0" rIns="0" bIns="0" rtlCol="0" anchor="t" anchorCtr="0">
        <a:noAutofit/>
      </a:bodyPr>
      <a:lstStyle>
        <a:defPPr>
          <a:lnSpc>
            <a:spcPct val="110000"/>
          </a:lnSpc>
          <a:defRPr sz="1800" dirty="0" err="1" smtClean="0"/>
        </a:defPPr>
      </a:lst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noAutofit/>
      </a:bodyPr>
      <a:lstStyle>
        <a:defPPr marL="354013" indent="-354013">
          <a:lnSpc>
            <a:spcPct val="110000"/>
          </a:lnSpc>
          <a:buBlip>
            <a:blip xmlns:r="http://schemas.openxmlformats.org/officeDocument/2006/relationships" r:embed="rId1"/>
          </a:buBlip>
          <a:defRPr sz="18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XFEL_Poster_Science.potx" id="{4F774A68-DCE4-4155-882B-58AED52EF602}" vid="{4EC4E652-1B84-4487-A792-B7642F391282}"/>
    </a:ext>
  </a:extLst>
</a:theme>
</file>

<file path=ppt/theme/theme2.xml><?xml version="1.0" encoding="utf-8"?>
<a:theme xmlns:a="http://schemas.openxmlformats.org/drawingml/2006/main" name="Office">
  <a:themeElements>
    <a:clrScheme name="Benutzerdefiniert 59">
      <a:dk1>
        <a:srgbClr val="000000"/>
      </a:dk1>
      <a:lt1>
        <a:sysClr val="window" lastClr="FFFFFF"/>
      </a:lt1>
      <a:dk2>
        <a:srgbClr val="B2B2B2"/>
      </a:dk2>
      <a:lt2>
        <a:srgbClr val="F39200"/>
      </a:lt2>
      <a:accent1>
        <a:srgbClr val="0D1546"/>
      </a:accent1>
      <a:accent2>
        <a:srgbClr val="559DBB"/>
      </a:accent2>
      <a:accent3>
        <a:srgbClr val="81B0C8"/>
      </a:accent3>
      <a:accent4>
        <a:srgbClr val="A4C3D6"/>
      </a:accent4>
      <a:accent5>
        <a:srgbClr val="C5D6E4"/>
      </a:accent5>
      <a:accent6>
        <a:srgbClr val="E3EBF2"/>
      </a:accent6>
      <a:hlink>
        <a:srgbClr val="000000"/>
      </a:hlink>
      <a:folHlink>
        <a:srgbClr val="000000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Benutzerdefiniert 59">
      <a:dk1>
        <a:srgbClr val="000000"/>
      </a:dk1>
      <a:lt1>
        <a:sysClr val="window" lastClr="FFFFFF"/>
      </a:lt1>
      <a:dk2>
        <a:srgbClr val="B2B2B2"/>
      </a:dk2>
      <a:lt2>
        <a:srgbClr val="F39200"/>
      </a:lt2>
      <a:accent1>
        <a:srgbClr val="0D1546"/>
      </a:accent1>
      <a:accent2>
        <a:srgbClr val="559DBB"/>
      </a:accent2>
      <a:accent3>
        <a:srgbClr val="81B0C8"/>
      </a:accent3>
      <a:accent4>
        <a:srgbClr val="A4C3D6"/>
      </a:accent4>
      <a:accent5>
        <a:srgbClr val="C5D6E4"/>
      </a:accent5>
      <a:accent6>
        <a:srgbClr val="E3EBF2"/>
      </a:accent6>
      <a:hlink>
        <a:srgbClr val="000000"/>
      </a:hlink>
      <a:folHlink>
        <a:srgbClr val="000000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XFEL_Poster_Science</Template>
  <TotalTime>386</TotalTime>
  <Words>533</Words>
  <Application>Microsoft Macintosh PowerPoint</Application>
  <PresentationFormat>Custom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XFEL_Poster_Science</vt:lpstr>
      <vt:lpstr>AI Agent Support for Data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 Fuchs</dc:creator>
  <cp:lastModifiedBy>Tim Puhlfürß</cp:lastModifiedBy>
  <cp:revision>9</cp:revision>
  <dcterms:created xsi:type="dcterms:W3CDTF">2026-01-13T08:42:32Z</dcterms:created>
  <dcterms:modified xsi:type="dcterms:W3CDTF">2026-01-19T15:33:01Z</dcterms:modified>
</cp:coreProperties>
</file>